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charge lines</c:v>
                </c:pt>
              </c:strCache>
            </c:strRef>
          </c:tx>
          <c:spPr>
            <a:solidFill>
              <a:srgbClr val="2E86AB"/>
            </a:solidFill>
          </c:spPr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639B"/>
              </a:solidFill>
            </c:spPr>
          </c:dPt>
          <c:dPt>
            <c:idx val="2"/>
            <c:spPr>
              <a:solidFill>
                <a:srgbClr val="2E86AB"/>
              </a:solidFill>
            </c:spPr>
          </c:dPt>
          <c:dPt>
            <c:idx val="3"/>
            <c:spPr>
              <a:solidFill>
                <a:srgbClr val="5DA9C7"/>
              </a:solidFill>
            </c:spPr>
          </c:dPt>
          <c:dPt>
            <c:idx val="4"/>
            <c:spPr>
              <a:solidFill>
                <a:srgbClr val="8FC6D9"/>
              </a:solidFill>
            </c:spPr>
          </c:dPt>
          <c:dPt>
            <c:idx val="5"/>
            <c:spPr>
              <a:solidFill>
                <a:srgbClr val="BFDCE6"/>
              </a:solidFill>
            </c:spPr>
          </c:dPt>
          <c:dPt>
            <c:idx val="6"/>
            <c:spPr>
              <a:solidFill>
                <a:srgbClr val="ADB5BD"/>
              </a:solidFill>
            </c:spPr>
          </c:dPt>
          <c:cat>
            <c:strRef>
              <c:f>Sheet1!$A$2:$A$8</c:f>
              <c:strCache>
                <c:ptCount val="7"/>
                <c:pt idx="0">
                  <c:v>Discounts &amp; Credits</c:v>
                </c:pt>
                <c:pt idx="1">
                  <c:v>Fuel Surcharge</c:v>
                </c:pt>
                <c:pt idx="2">
                  <c:v>Base Freight / Transportation</c:v>
                </c:pt>
                <c:pt idx="3">
                  <c:v>Accessorial / Delivery Surcharge</c:v>
                </c:pt>
                <c:pt idx="4">
                  <c:v>Taxes &amp; Customs</c:v>
                </c:pt>
                <c:pt idx="5">
                  <c:v>Administrative &amp; Service Fees</c:v>
                </c:pt>
                <c:pt idx="6">
                  <c:v>Other / Uncategorized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30.3</c:v>
                </c:pt>
                <c:pt idx="1">
                  <c:v>28.8</c:v>
                </c:pt>
                <c:pt idx="2">
                  <c:v>26.7</c:v>
                </c:pt>
                <c:pt idx="3">
                  <c:v>7.8</c:v>
                </c:pt>
                <c:pt idx="4">
                  <c:v>2.9</c:v>
                </c:pt>
                <c:pt idx="5">
                  <c:v>1.0</c:v>
                </c:pt>
                <c:pt idx="6">
                  <c:v>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2227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8DDE3"/>
            </a:solidFill>
          </a:ln>
        </c:spPr>
        <c:txPr>
          <a:bodyPr/>
          <a:lstStyle/>
          <a:p>
            <a:pPr>
              <a:defRPr sz="1200">
                <a:solidFill>
                  <a:srgbClr val="2227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Making Sense of Carrier Billing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D8E3F0"/>
                </a:solidFill>
                <a:latin typeface="Calibri"/>
              </a:rPr>
              <a:t>How we turn thousands of raw FedEx / UPS charge codes into one clear cost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394960" cy="27889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411480" cy="822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8463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Every FedEx / UPS invoice breaks a shipment into many separate charge lines (fuel, discounts, taxes, fees…), each with its own free-text label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Almost 3,000 distinct raw labels in the data — inconsistent wording, abbreviations, even different languages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Impossible to compare cost drivers or negotiate rates without first grouping this into a common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22392" cy="2788920"/>
          </a:xfrm>
          <a:prstGeom prst="roundRect">
            <a:avLst>
              <a:gd name="adj" fmla="val 6000"/>
            </a:avLst>
          </a:prstGeom>
          <a:solidFill>
            <a:srgbClr val="ECF3F8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59" y="1627632"/>
            <a:ext cx="411480" cy="82296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75564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Calibri"/>
              </a:rP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240280"/>
            <a:ext cx="4873752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Built a rule-based sorting system: each label is matched against business-defined keyword rules (e.g. “fuel”, “residential”, “VAT”)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Every raw label lands in one of 6 clear categories, each with detailed subcategories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>
                <a:solidFill>
                  <a:srgbClr val="4A525C"/>
                </a:solidFill>
                <a:latin typeface="Calibri"/>
              </a:rPr>
              <a:t>•  Fully transparent: any charge's category can be traced back to the exact rule that assigned it — not a black-box guess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THE PROCESS, IN ONE PICTURE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~3,000 raw charge labels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03903" y="5390388"/>
            <a:ext cx="393192" cy="329184"/>
          </a:xfrm>
          <a:prstGeom prst="rightArrow">
            <a:avLst/>
          </a:prstGeom>
          <a:solidFill>
            <a:srgbClr val="4A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59" y="502920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Keyword rules</a:t>
            </a:r>
          </a:p>
          <a:p>
            <a:pPr algn="ctr"/>
            <a:r>
              <a:rPr sz="1050">
                <a:solidFill>
                  <a:srgbClr val="E3F1F6"/>
                </a:solidFill>
              </a:rPr>
              <a:t>+ AI-assisted fallback for the tricky ones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07223" y="5390388"/>
            <a:ext cx="393192" cy="329184"/>
          </a:xfrm>
          <a:prstGeom prst="rightArrow">
            <a:avLst/>
          </a:prstGeom>
          <a:solidFill>
            <a:srgbClr val="4A5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502920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 clear categories</a:t>
            </a:r>
          </a:p>
          <a:p>
            <a:pPr algn="ctr"/>
            <a:r>
              <a:rPr sz="1050">
                <a:solidFill>
                  <a:srgbClr val="FCE9D6"/>
                </a:solidFill>
              </a:rPr>
              <a:t>ready for cost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A525C"/>
                </a:solidFill>
                <a:latin typeface="Calibri"/>
              </a:rPr>
              <a:t>Applies to the full multi-million-row dataset, not just this sample — see next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Result: 97.6% of Charges Categorized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D8E3F0"/>
                </a:solidFill>
                <a:latin typeface="Calibri"/>
              </a:rPr>
              <a:t>Share of charge lines (256,764 rows in the sample data) falling into each category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4173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WHY THIS HOLDS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36408" y="2011680"/>
            <a:ext cx="320040" cy="640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Auditable, not a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45059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25C"/>
                </a:solidFill>
                <a:latin typeface="Calibri"/>
              </a:rPr>
              <a:t>Every categorized charge can be traced back to the exact keyword rule that matched it — important for finance &amp; billing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429000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36408" y="3611880"/>
            <a:ext cx="320040" cy="640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Nothing silently dropped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050791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25C"/>
                </a:solidFill>
                <a:latin typeface="Calibri"/>
              </a:rPr>
              <a:t>The remaining 2.4% is flagged in a review list, not hidden — each one gets a human look before being added to the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5029200"/>
            <a:ext cx="406908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36408" y="5212080"/>
            <a:ext cx="320040" cy="640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Scales to the full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565099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25C"/>
                </a:solidFill>
                <a:latin typeface="Calibri"/>
              </a:rPr>
              <a:t>Only the ~3,000 unique labels need classifying, once. New data of any size — millions of rows — reuses the same mapping instantly.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A525C"/>
                </a:solidFill>
                <a:latin typeface="Calibri"/>
              </a:rPr>
              <a:t>6 major categories, up to 9 subcategories each, built from the language carriers actually use on invoices.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